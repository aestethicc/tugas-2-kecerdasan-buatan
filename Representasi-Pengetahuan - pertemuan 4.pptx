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PT Sans"/>
      <p:regular r:id="rId201314"/>
    </p:embeddedFont>
    <p:embeddedFont>
      <p:font typeface="PT San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4.png"/><Relationship Id="rId7" Type="http://schemas.openxmlformats.org/officeDocument/2006/relationships/image" Target="../media/image-11-7.png"/><Relationship Id="rId8" Type="http://schemas.openxmlformats.org/officeDocument/2006/relationships/image" Target="../media/image-11-4.png"/><Relationship Id="rId9" Type="http://schemas.openxmlformats.org/officeDocument/2006/relationships/image" Target="../media/image-11-9.png"/><Relationship Id="rId10" Type="http://schemas.openxmlformats.org/officeDocument/2006/relationships/image" Target="../media/image-11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1.png"/><Relationship Id="rId8" Type="http://schemas.openxmlformats.org/officeDocument/2006/relationships/image" Target="../media/image-14-2.svg"/><Relationship Id="rId9" Type="http://schemas.openxmlformats.org/officeDocument/2006/relationships/image" Target="../media/image-13-4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.png"/><Relationship Id="rId12" Type="http://schemas.openxmlformats.org/officeDocument/2006/relationships/image" Target="../media/image-14-2.svg"/><Relationship Id="rId13" Type="http://schemas.openxmlformats.org/officeDocument/2006/relationships/image" Target="../media/image-14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1.png"/><Relationship Id="rId4" Type="http://schemas.openxmlformats.org/officeDocument/2006/relationships/image" Target="../media/image-16-2.svg"/><Relationship Id="rId5" Type="http://schemas.openxmlformats.org/officeDocument/2006/relationships/image" Target="../media/image-16-1.png"/><Relationship Id="rId6" Type="http://schemas.openxmlformats.org/officeDocument/2006/relationships/image" Target="../media/image-1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6321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Representasi Pengetahuan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32799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Memahami bagaimana pengetahuan diorganisasi, direpresentasikan, dan digunakan oleh sistem kecerdasan buatan untuk menalar dan mengambil kesimpulan.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043263"/>
            <a:ext cx="1470484" cy="251420"/>
          </a:xfrm>
          <a:prstGeom prst="roundRect">
            <a:avLst>
              <a:gd name="adj" fmla="val 22103"/>
            </a:avLst>
          </a:prstGeom>
          <a:solidFill>
            <a:srgbClr val="FDF3CE"/>
          </a:solidFill>
          <a:ln/>
        </p:spPr>
      </p:sp>
      <p:sp>
        <p:nvSpPr>
          <p:cNvPr id="6" name="Text 3"/>
          <p:cNvSpPr/>
          <p:nvPr/>
        </p:nvSpPr>
        <p:spPr>
          <a:xfrm>
            <a:off x="5332577" y="4092873"/>
            <a:ext cx="188163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KECERDASAN BUATAN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786492" y="4043263"/>
            <a:ext cx="1037405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F9D4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708" y="4092873"/>
            <a:ext cx="144855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F9D44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SISTEM PAKAR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41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Basis Pengetahuan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6153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Langkah pertama dalam membangun sistem kecerdasan buatan adalah membangun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basis pengetahuan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digunakan oleh motor inferensi untuk menalar dan mengambil kesimpulan dari input yang diberikan.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76798"/>
            <a:ext cx="10868745" cy="1866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07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Membangun Basis Pengetahuan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3045520"/>
            <a:ext cx="5470785" cy="1531739"/>
          </a:xfrm>
          <a:prstGeom prst="roundRect">
            <a:avLst>
              <a:gd name="adj" fmla="val 7774"/>
            </a:avLst>
          </a:prstGeom>
          <a:solidFill>
            <a:srgbClr val="1D7CC0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321081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Knowledge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634581"/>
            <a:ext cx="51401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Proses mengumpulkan dan mengorganisasi pengetahuan dari berbagai sumber untuk membentuk basis pengetahuan yang komprehensif.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321081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Knowledge Representation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634581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Proses bagaimana pengetahuan direpresentasikan sehingga dapat digunakan oleh sistem komputer untuk melakukan penalaran secara otomatis.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774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Karakteristik Representasi Pengetahuan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224907"/>
            <a:ext cx="5351725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340925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Dapat Diprogram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376693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Dapat diimplementasikan dengan bahasa komputer dan disimpan dalam memori sistem.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3224907"/>
            <a:ext cx="5351725" cy="12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9037" y="3409255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Mendukung Penalaran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39037" y="3766939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Fakta dan pengetahuan yang terkandung di dalamnya dapat digunakan untuk melakukan penalaran dan inferensi.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4963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Struktur Representasi Pengetahuan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414415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Terdiri dari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struktur data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prosedur untuk penafsiran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Mencakup empat hal utama: object pengetahuan itu sendiri, event (kejadian dunia nyata), performa (cara melakukan tugas), dan meta knowledge (pengetahuan tentang pengetahuan).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23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Klasifikasi Representasi Pengetahuan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39802"/>
            <a:ext cx="5351725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069134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Menggunakan logika formal untuk merepresentasikan pengetahuan.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8495" y="2539802"/>
            <a:ext cx="5351725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0139" y="27114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Prosedural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139" y="30691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Menggambarkan prosedur sebagai kumpulan instruksi IF-THEN untuk memecahkan masalah.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935313"/>
            <a:ext cx="5351725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11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Network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119" y="4464645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Menggambarkan pengetahuan sebagai Graph dan Tree.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495" y="3935313"/>
            <a:ext cx="5351725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013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Terstruktur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139" y="4464645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Memperluas Network dengan node berupa struktur data kompleks: script, frame, object.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24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 sebagai Representasi Pengetahuan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7992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Logika adalah bentuk representasi pengetahuan yang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paling tua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Proses menarik kesimpulan (inferensi) dilakukan berdasarkan fakta yang telah ada. Terdiri dari dua jenis utama: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595191"/>
            <a:ext cx="10868745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601541"/>
            <a:ext cx="5428023" cy="1217513"/>
          </a:xfrm>
          <a:custGeom>
            <a:avLst/>
            <a:gdLst/>
            <a:ahLst/>
            <a:cxnLst/>
            <a:rect l="l" t="t" r="r" b="b"/>
            <a:pathLst>
              <a:path w="5428023" h="1217513">
                <a:moveTo>
                  <a:pt x="57887" y="0"/>
                </a:moveTo>
                <a:lnTo>
                  <a:pt x="5428023" y="0"/>
                </a:lnTo>
                <a:lnTo>
                  <a:pt x="5428023" y="1217513"/>
                </a:lnTo>
                <a:lnTo>
                  <a:pt x="57887" y="1217513"/>
                </a:lnTo>
                <a:arcTo hR="57888" wR="57887" stAng="5400000" swAng="5400000"/>
                <a:lnTo>
                  <a:pt x="0" y="57888"/>
                </a:lnTo>
                <a:arcTo hR="57888" wR="57887" stAng="10800000" swAng="5400000"/>
                <a:close/>
              </a:path>
            </a:pathLst>
          </a:custGeom>
          <a:solidFill>
            <a:srgbClr val="FDF3CE"/>
          </a:solidFill>
          <a:ln/>
        </p:spPr>
      </p:sp>
      <p:sp>
        <p:nvSpPr>
          <p:cNvPr id="6" name="Text 4"/>
          <p:cNvSpPr/>
          <p:nvPr/>
        </p:nvSpPr>
        <p:spPr>
          <a:xfrm>
            <a:off x="833119" y="3766840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 Proposisi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4124523"/>
            <a:ext cx="50974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Pernyataan yang dapat bernilai benar atau salah, ditunjukkan dengan simbol seperti P dan Q.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3601541"/>
            <a:ext cx="5428023" cy="1217513"/>
          </a:xfrm>
          <a:custGeom>
            <a:avLst/>
            <a:gdLst/>
            <a:ahLst/>
            <a:cxnLst/>
            <a:rect l="l" t="t" r="r" b="b"/>
            <a:pathLst>
              <a:path w="5428023" h="1217513">
                <a:moveTo>
                  <a:pt x="0" y="0"/>
                </a:moveTo>
                <a:lnTo>
                  <a:pt x="5370136" y="0"/>
                </a:lnTo>
                <a:arcTo hR="57888" wR="57887" stAng="16200000" swAng="5400000"/>
                <a:lnTo>
                  <a:pt x="5428023" y="1159625"/>
                </a:lnTo>
                <a:arcTo hR="57888" wR="57887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FDF3CE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601541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E3D9B4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3766840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 Predikat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4124523"/>
            <a:ext cx="50974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Membagi pernyataan menjadi argumen dan predikat untuk representasi yang lebih ekspresif.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47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Operator Logika Proposisi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7214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Proposisi adalah pernyataan yang dapat bernilai benar atau salah. Penggabungan proposisi menggunakan operator logika berikut: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22798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577" y="3022798"/>
            <a:ext cx="2864969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Konjungsi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(and)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554" y="3041848"/>
            <a:ext cx="134736" cy="2423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1577" y="3383459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Bernilai benar jika kedua proposisi benar.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213" y="3022798"/>
            <a:ext cx="413434" cy="4134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3315" y="3022798"/>
            <a:ext cx="2865068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Disjungsi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(or)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909" y="3041848"/>
            <a:ext cx="134736" cy="2423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73315" y="3383459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Bernilai benar jika salah satu proposisi benar.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5050" y="3022798"/>
            <a:ext cx="413434" cy="41344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65152" y="3022798"/>
            <a:ext cx="2865068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Negasi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(not)</a:t>
            </a:r>
            <a:endParaRPr lang="en-US" sz="16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3332" y="3041848"/>
            <a:ext cx="134736" cy="24239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65152" y="3383459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Membalik nilai kebenaran suatu proposisi.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243388"/>
            <a:ext cx="413434" cy="41344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81577" y="4243388"/>
            <a:ext cx="2864969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Implikasi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(if-then)</a:t>
            </a:r>
            <a:endParaRPr lang="en-US" sz="16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3943" y="4262438"/>
            <a:ext cx="202004" cy="24239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281577" y="4604048"/>
            <a:ext cx="286496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Jika anteseden benar maka konsekuen harus benar.</a:t>
            </a:r>
            <a:endParaRPr lang="en-US" sz="13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3213" y="4243388"/>
            <a:ext cx="413434" cy="41344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73315" y="4243388"/>
            <a:ext cx="2865068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Ekuivalensi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(iff)</a:t>
            </a:r>
            <a:endParaRPr lang="en-US" sz="16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24015" y="4262438"/>
            <a:ext cx="202004" cy="242391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73315" y="4604048"/>
            <a:ext cx="286506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Bernilai benar jika kedua proposisi memiliki nilai yang sama.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30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Logika Proposisi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909516" y="2906514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"Jika hujan turun sekarang maka saya tidak pergi ke pasar"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20479"/>
            <a:ext cx="19050" cy="636687"/>
          </a:xfrm>
          <a:prstGeom prst="roundRect">
            <a:avLst>
              <a:gd name="adj" fmla="val 49999"/>
            </a:avLst>
          </a:prstGeom>
          <a:solidFill>
            <a:srgbClr val="F9D448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54320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Kalimat tersebut dapat ditulis: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8478" y="3581301"/>
            <a:ext cx="410458" cy="2136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3993852"/>
            <a:ext cx="5351725" cy="990997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19050">
            <a:solidFill>
              <a:srgbClr val="E3D9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19" y="4178201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Proposisi 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453588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Hujan turun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8495" y="3993852"/>
            <a:ext cx="5351725" cy="990997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19050">
            <a:solidFill>
              <a:srgbClr val="E3D9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62838" y="4178201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Proposisi q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62838" y="453588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Saya tidak pergi ke pasar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62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Tabel Kebenaran Logika Proposisi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9362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Tabel berikut menunjukkan nilai kebenaran untuk berbagai operator logika berdasarkan nilai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dan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461" y="2231727"/>
            <a:ext cx="81258" cy="21361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357" y="2231727"/>
            <a:ext cx="77885" cy="21361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44279"/>
          <a:ext cx="9143771" cy="914400"/>
        </p:xfrm>
        <a:graphic>
          <a:graphicData uri="http://schemas.openxmlformats.org/drawingml/2006/table">
            <a:tbl>
              <a:tblPr/>
              <a:tblGrid>
                <a:gridCol w="1811458"/>
                <a:gridCol w="1811458"/>
                <a:gridCol w="1811458"/>
                <a:gridCol w="1811458"/>
                <a:gridCol w="1811458"/>
                <a:gridCol w="1811458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q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 \wedge q</a:t>
                      </a:r>
                      <a:endParaRPr lang="en-US" sz="12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 \vee q</a:t>
                      </a:r>
                      <a:endParaRPr lang="en-US" sz="12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 \rightarrow q</a:t>
                      </a:r>
                      <a:endParaRPr lang="en-US" sz="12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 \leftrightarrow q</a:t>
                      </a:r>
                      <a:endParaRPr lang="en-US" sz="12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61475" y="524718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Tabel negasi: jika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= T maka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= F, dan sebaliknya.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775" y="5285284"/>
            <a:ext cx="81258" cy="21361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466" y="5285284"/>
            <a:ext cx="251811" cy="2136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83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Penerapan Operator Logika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357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Diberikan: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= "Bumi satu-satunya planet berpenghuni" (B),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q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= "Satu dekade = 10 tahun" (B),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= "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 (S).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5403" y="2073870"/>
            <a:ext cx="655323" cy="2136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48642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485" y="251742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2543274"/>
            <a:ext cx="10331390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: Bumi bukan satu-satunya planet berpenghuni.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89B2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(S)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30" y="2562324"/>
            <a:ext cx="101597" cy="24239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318918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3485" y="322019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198830" y="3246041"/>
            <a:ext cx="10331390" cy="27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: Satu dekade = 10 tahun DAN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89B2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(S)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30" y="3265091"/>
            <a:ext cx="418395" cy="255091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310" y="3265091"/>
            <a:ext cx="819130" cy="24239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61475" y="389195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723485" y="392296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1198830" y="3948807"/>
            <a:ext cx="10331390" cy="27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: Satu dekade = 10 tahun ATAU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D7CC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(B)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30" y="3967857"/>
            <a:ext cx="418395" cy="255091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173" y="3967857"/>
            <a:ext cx="819130" cy="242391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1475" y="459472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723485" y="462572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1198830" y="4651573"/>
            <a:ext cx="10331390" cy="27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: Jika satu dekade = 10 tahun maka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89B2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(S)</a:t>
            </a:r>
            <a:endParaRPr lang="en-US" sz="16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30" y="4670623"/>
            <a:ext cx="508087" cy="255091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8704" y="4670623"/>
            <a:ext cx="819130" cy="242391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61475" y="529748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723485" y="532849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5</a:t>
            </a:r>
            <a:endParaRPr lang="en-US" sz="1950" dirty="0"/>
          </a:p>
        </p:txBody>
      </p:sp>
      <p:sp>
        <p:nvSpPr>
          <p:cNvPr id="26" name="Text 16"/>
          <p:cNvSpPr/>
          <p:nvPr/>
        </p:nvSpPr>
        <p:spPr>
          <a:xfrm>
            <a:off x="1198830" y="5354340"/>
            <a:ext cx="10331390" cy="274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 : Satu dekade = 10 tahun jika dan hanya jika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89B2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(S)</a:t>
            </a:r>
            <a:endParaRPr lang="en-US" sz="16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8830" y="5373390"/>
            <a:ext cx="508087" cy="255091"/>
          </a:xfrm>
          <a:prstGeom prst="rect">
            <a:avLst/>
          </a:prstGeom>
        </p:spPr>
      </p:pic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9698" y="5373390"/>
            <a:ext cx="819130" cy="2423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07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 Predikat Order Pertama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0817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Konsep dan aturan sama dengan logika proposisi, namun membagi pernyataan menjadi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argumen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(objek) dan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predikat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(keterangan).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58827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FDF3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3398540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336540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Format: PREDICATE (Individual [object]1, Individual [object]2)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4006155"/>
            <a:ext cx="5351725" cy="990997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19050">
            <a:solidFill>
              <a:srgbClr val="E3D9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19" y="4190504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454818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Joko suka bahasa Inggris →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            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02" y="4586288"/>
            <a:ext cx="1847010" cy="21361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178495" y="4006155"/>
            <a:ext cx="5351725" cy="990997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19050">
            <a:solidFill>
              <a:srgbClr val="E3D9B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62838" y="4190504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62838" y="454818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Toni adalah seorang mahasiswa →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595" y="4586288"/>
            <a:ext cx="1213514" cy="2136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81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Variabel dan Quantifier dalam Logika Predikat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8556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Beberapa pernyataan serupa dapat diringkas menggunakan variabel. Contoh: Andi, Ali, Amir, Anto, Agus adalah laki-laki → ditulis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dimana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adalah variabel.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944" y="2823666"/>
            <a:ext cx="474155" cy="21361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278" y="2823666"/>
            <a:ext cx="92470" cy="21361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2415" y="3500834"/>
            <a:ext cx="5470785" cy="1418927"/>
          </a:xfrm>
          <a:prstGeom prst="roundRect">
            <a:avLst>
              <a:gd name="adj" fmla="val 8392"/>
            </a:avLst>
          </a:prstGeom>
          <a:solidFill>
            <a:srgbClr val="1D7CC0"/>
          </a:solidFill>
          <a:ln/>
        </p:spPr>
      </p:sp>
      <p:sp>
        <p:nvSpPr>
          <p:cNvPr id="7" name="Text 3"/>
          <p:cNvSpPr/>
          <p:nvPr/>
        </p:nvSpPr>
        <p:spPr>
          <a:xfrm>
            <a:off x="707710" y="3666133"/>
            <a:ext cx="5140196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Universal Quantifier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58" y="3685183"/>
            <a:ext cx="112313" cy="2423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07710" y="4092873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"Untuk setiap" — berlaku bagi semua anggota dalam domain.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07710" y="450631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Contoh: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             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919" y="4544417"/>
            <a:ext cx="2017464" cy="2136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3904" y="3666133"/>
            <a:ext cx="5232666" cy="26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Existential Quantifier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 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736" y="3685183"/>
            <a:ext cx="112313" cy="2423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03904" y="409287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"Terdapat" — berlaku untuk setidaknya satu anggota dalam domain.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303904" y="4506317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Contoh: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113" y="4544417"/>
            <a:ext cx="1321065" cy="2136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86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Kasus Logika Predikat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09612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Diberikan fakta tentang Andi, mahasiswa Elektro yang tidak hadir kuliah Kalkulus: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3527723"/>
            <a:ext cx="3504120" cy="11005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868" y="3546773"/>
            <a:ext cx="32816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Fakta Dasar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4868" y="3904456"/>
            <a:ext cx="328167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68" y="3942556"/>
            <a:ext cx="1226809" cy="21361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137" y="3942556"/>
            <a:ext cx="990178" cy="21361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68" y="4207173"/>
            <a:ext cx="1056554" cy="21361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881" y="4207173"/>
            <a:ext cx="1657805" cy="21361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4163" y="3527723"/>
            <a:ext cx="3504219" cy="110053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4556606" y="3546773"/>
            <a:ext cx="328177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Aturan Umum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556606" y="3904456"/>
            <a:ext cx="3281776" cy="704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             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                     </a:t>
            </a:r>
            <a:endParaRPr lang="en-US" sz="13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606" y="3942556"/>
            <a:ext cx="2017464" cy="213618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606" y="4169073"/>
            <a:ext cx="3281776" cy="427236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26001" y="3527723"/>
            <a:ext cx="3504219" cy="1100534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248444" y="3546773"/>
            <a:ext cx="328177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Aturan Ketidakhadiran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8248444" y="3904456"/>
            <a:ext cx="3281776" cy="440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                     </a:t>
            </a:r>
            <a:endParaRPr lang="en-US" sz="13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48444" y="3904456"/>
            <a:ext cx="3281776" cy="4272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3827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Aturan Produksi (IF-THEN)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003054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Representasi pengetahuan berupa aturan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IF-THEN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terdiri dari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anteseden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(premis, bagian IF) dan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konsekuen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(konklusi, bagian THEN). Konsekuen dinyatakan benar hanya jika bagian IF bernilai benar. Banyak digunakan pada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sistem pakar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1401" y="4168973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lalulintas pagi ini padat THEN saya naik sepeda motor saja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3982938"/>
            <a:ext cx="19050" cy="636687"/>
          </a:xfrm>
          <a:prstGeom prst="roundRect">
            <a:avLst>
              <a:gd name="adj" fmla="val 49999"/>
            </a:avLst>
          </a:prstGeom>
          <a:solidFill>
            <a:srgbClr val="F9D448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294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Bentuk-Bentuk Aturan Produksi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76860"/>
            <a:ext cx="3512653" cy="17517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3781" y="308570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5819" y="365730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IF premis THEN kesimpulan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4014986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Jika pendapatan tinggi MAKA pajak yang harus dibayar juga tinggi.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976860"/>
            <a:ext cx="3512752" cy="17517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1728" y="308570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523766" y="3657302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Kesimpulan IF premis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23766" y="4014986"/>
            <a:ext cx="3144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Pajak yang harus dibayar tinggi JIKA pendapatan tinggi.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976860"/>
            <a:ext cx="3512653" cy="17517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49774" y="308570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201812" y="3657302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Dengan ELSE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01812" y="4014986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 pendapatan tinggi OR pengeluaran tinggi, THEN pajak tinggi ELSE pajak rendah.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98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Sistem Produksi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2723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Sistem produksi terdiri dari dua komponen utama: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ruang keadaan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(berisi keadaan awal, tujuan, dan kumpulan aturan) serta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strategi kontrol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(mengarahkan proses pencarian dan mengendalikan arah eksplorasi).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2505"/>
            <a:ext cx="9985423" cy="29356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0637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List dan Tree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99877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14413"/>
            <a:ext cx="523584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Serangkaian struktur data yang dibuat secara berhubungan. List dapat menggambarkan relasi dan hirarki antar elemen secara berurutan.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11623"/>
            <a:ext cx="4207960" cy="3675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0729" y="1399877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0729" y="1814413"/>
            <a:ext cx="5235841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Struktur data berupa node-node yang dibuat secara hirarkis, dihubungkan oleh arc yang menunjukkan relasi parent-child.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29" y="2511623"/>
            <a:ext cx="4969247" cy="3675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07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Jaringan Semantik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281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Gambaran pengetahuan grafis yang menunjukkan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hubungan antar berbagai objek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Terdiri dari lingkaran-lingkaran yang menunjukkan objek (benda atau peristiwa), dihubungkan oleh arc yang menunjukkan relasi antar objek.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43448"/>
            <a:ext cx="732851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Frame: Representasi Berbasis Objek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4766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Frame adalah kumpulan pengetahuan tentang suatu objek, peristiwa, lokasi, atau situasi. Memiliki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slot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yang menggambarkan atribut dan karakteristik objek. Sangat mudah digunakan untuk membuat inferensi tentang objek atau situasi baru karena menyediakan basis pengetahuan dari pengalaman.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462933"/>
            <a:ext cx="3512653" cy="1494830"/>
          </a:xfrm>
          <a:prstGeom prst="roundRect">
            <a:avLst>
              <a:gd name="adj" fmla="val 4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363458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992265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Atribut yang menggambarkan rincian karakteristik objek dalam frame.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462933"/>
            <a:ext cx="3512752" cy="1494830"/>
          </a:xfrm>
          <a:prstGeom prst="roundRect">
            <a:avLst>
              <a:gd name="adj" fmla="val 4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1066" y="3634581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Facet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066" y="3992265"/>
            <a:ext cx="31694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Nilai atau prosedur yang mengisi slot dalam sebuah frame.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462933"/>
            <a:ext cx="3512653" cy="1494830"/>
          </a:xfrm>
          <a:prstGeom prst="roundRect">
            <a:avLst>
              <a:gd name="adj" fmla="val 4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9112" y="363458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Inferensi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3992265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Frame memudahkan inferensi tentang objek baru berdasarkan pengalaman yang tersimpan.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07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Frame: Mobil Audi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3045520"/>
            <a:ext cx="5470785" cy="1531739"/>
          </a:xfrm>
          <a:prstGeom prst="roundRect">
            <a:avLst>
              <a:gd name="adj" fmla="val 7774"/>
            </a:avLst>
          </a:prstGeom>
          <a:solidFill>
            <a:srgbClr val="2C2F52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321081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Frame Mobil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634581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Class: Transportasi | Nama pabrik: Audi | Negara: Jerman | Model: 5000 Turbo | Tipe: Sedan | Bobot: 3300 lb | Transmisi: 3-speed otomatis | Jumlah pintu: 4 (default) | Jumlah roda: 4 (default)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321081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Frame Mesin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634581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Tipe: in-line, overhead cam | Jumlah silinder: 5 | Kaliber silinder: 3,19 inci | Tak silinder: 3,4 inci | Rasio kompresi: 7,8:1 | Sistem bahan bakar: injeksi turbo | Tenaga: 140 HP | Torsi: 160 ft/LB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191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Hirarki Frame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163935"/>
            <a:ext cx="1086874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Sistem AI menggunakan kumpulan frame yang saling terkait. Hirarki frame mengijinkan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pewarisan sifat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dari frame level tinggi ke level rendah (parent ke child). Contoh: Frame Kendaraan → Frame Mobil → Frame Mobil Penumpang → Frame Mobil Lengkap.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91977"/>
            <a:ext cx="10426340" cy="46568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91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Parent Frame &amp; Child Frame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292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Parent Frame: Compact Car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73734"/>
          <a:ext cx="9143771" cy="914400"/>
        </p:xfrm>
        <a:graphic>
          <a:graphicData uri="http://schemas.openxmlformats.org/drawingml/2006/table">
            <a:tbl>
              <a:tblPr/>
              <a:tblGrid>
                <a:gridCol w="2616333"/>
                <a:gridCol w="2616333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Slot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Facets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Pemilik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Cek daftar registrasi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Warna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Daftar per manufaktur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 silinder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Range: 4 atau 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Model (tahun)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Range: 1950–2001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3904" y="212923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Child Frame: Mobilnya Jane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573734"/>
          <a:ext cx="9143771" cy="914400"/>
        </p:xfrm>
        <a:graphic>
          <a:graphicData uri="http://schemas.openxmlformats.org/drawingml/2006/table">
            <a:tbl>
              <a:tblPr/>
              <a:tblGrid>
                <a:gridCol w="2616333"/>
                <a:gridCol w="2616333"/>
              </a:tblGrid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Slot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Nilai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Pemilik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Jane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Warna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Biru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 silinder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Buatan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Honda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9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Model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Accord, 1992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31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Hirarki Frame Transportasi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0538"/>
            <a:ext cx="5442112" cy="37337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802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Hirarki frame transportasi menunjukkan pewarisan dari Frame alat-alat transportasi → Trans. Darat → Slot mobil → Slot sedan → Slot bensin / Slot solar.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1271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Script: Representasi Urutan Peristiwa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672780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Script mirip dengan frame, namun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frame menggambarkan objek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sedangkan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script menggambarkan urutan peristiwa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Script menggunakan slot berisi informasi tentang orang, objek, dan tindakan yang terjadi dalam suatu peristiwa.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88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Elemen-Elemen Script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56259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456259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Kondisi Input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2813943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Kondisi yang harus dipenuhi sebelum suatu peristiwa dalam script berlaku.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456259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9233" y="2456259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Track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19233" y="2813943"/>
            <a:ext cx="471098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Variasi yang mungkin terjadi dalam suatu script.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73872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1577" y="3673872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Prop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81577" y="4031555"/>
            <a:ext cx="47108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Objek-objek pendukung yang digunakan selama peristiwa terjadi.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132" y="3673872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19233" y="3673872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Role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819233" y="4031555"/>
            <a:ext cx="471098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Peran yang dimainkan oleh seseorang dalam peristiwa.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26868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1577" y="4626868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281577" y="4984552"/>
            <a:ext cx="47108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Adegan yang menjadi bagian dari suatu peristiwa.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9132" y="4626868"/>
            <a:ext cx="413434" cy="4134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19233" y="4626868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Hasil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819233" y="4984552"/>
            <a:ext cx="471098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Kondisi yang ada setelah urutan peristiwa dalam script terjadi.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57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Contoh Script: Ujian Kecerdasan Buatan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2322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Track: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Ujian tertulis matakuliah Kecerdasan Buatan |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Role: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Mahasiswa, Pengawas |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Prop: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Lembar soal, lembar jawab, absen, pena |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Kondisi input: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Mahasiswa terdaftar untuk mengikuti ujian.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38488"/>
            <a:ext cx="3622882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96527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4322961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Pengawas menyiapkan lembar soal, jawab, dan presensi.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3138488"/>
            <a:ext cx="3622882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9651" y="396527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 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49651" y="4322961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Mahasiswa masuk, menerima lembar soal dan jawab, pengawas memimpin doa.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3138488"/>
            <a:ext cx="3622882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2533" y="396527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 3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72533" y="4322961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Mahasiswa menulis identitas, menandatangani, mengerjakan, dan mengecek jawaban.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34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Lanjutan Script: Penyelesaian Ujian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80903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3607693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3965377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Pengawas mempersilahkan mahasiswa keluar. Mahasiswa mengumpulkan lembar jawab dan meninggalkan ruangan.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780903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3607693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Scene 5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449651" y="3965377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Pengawas mengurutkan dan mengecek lembar jawab serta absen, lalu meninggalkan ruangan.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780903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3607693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Hasil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72533" y="3965377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Mahasiswa merasa senang dan lega, atau mahasiswa merasa kecewa.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8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Perbandingan Metode Representasi Pengetahuan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4264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5171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Ringkasan: Representasi Pengetahuan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333228"/>
            <a:ext cx="1988691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5005" y="2504877"/>
            <a:ext cx="16454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Logika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05005" y="2862560"/>
            <a:ext cx="164540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Proposisi &amp; predikat untuk inferensi formal.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87346" y="2333228"/>
            <a:ext cx="1988790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8990" y="2504877"/>
            <a:ext cx="16455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Aturan Produksi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58990" y="2862560"/>
            <a:ext cx="164550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IF-THEN untuk sistem pakar.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41430" y="2333228"/>
            <a:ext cx="1988790" cy="1230213"/>
          </a:xfrm>
          <a:prstGeom prst="roundRect">
            <a:avLst>
              <a:gd name="adj" fmla="val 5647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3074" y="2504877"/>
            <a:ext cx="16455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Network &amp; Tree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13074" y="2862560"/>
            <a:ext cx="164550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Grafis untuk relasi dan hirarki.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3728740"/>
            <a:ext cx="6296860" cy="965597"/>
          </a:xfrm>
          <a:prstGeom prst="roundRect">
            <a:avLst>
              <a:gd name="adj" fmla="val 7194"/>
            </a:avLst>
          </a:prstGeom>
          <a:solidFill>
            <a:srgbClr val="FDF3CE"/>
          </a:solidFill>
          <a:ln w="6350">
            <a:solidFill>
              <a:srgbClr val="E3D9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05005" y="3900388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Frame &amp; Script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05005" y="4258072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Slot terstruktur untuk objek dan peristiwa.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33360" y="4880372"/>
            <a:ext cx="6296860" cy="925909"/>
          </a:xfrm>
          <a:prstGeom prst="roundRect">
            <a:avLst>
              <a:gd name="adj" fmla="val 7502"/>
            </a:avLst>
          </a:prstGeom>
          <a:solidFill>
            <a:srgbClr val="FDF3C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55" y="5120084"/>
            <a:ext cx="206667" cy="1652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70617" y="5086945"/>
            <a:ext cx="559430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Pemilihan metode representasi yang tepat sangat menentukan efektivitas sistem kecerdasan buatan dalam menalar dan mengambil kesimpulan.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2026-09-08T22:41:00Z</dcterms:created>
  <dcterms:modified xsi:type="dcterms:W3CDTF">2026-09-08T22:41:00Z</dcterms:modified>
</cp:coreProperties>
</file>